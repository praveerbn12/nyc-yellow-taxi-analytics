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71" r:id="rId10"/>
    <p:sldId id="264" r:id="rId11"/>
    <p:sldId id="265" r:id="rId12"/>
    <p:sldId id="266" r:id="rId13"/>
    <p:sldId id="267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3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4975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0" y="-548640"/>
            <a:ext cx="7315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0" b="1" dirty="0">
                <a:solidFill>
                  <a:srgbClr val="FFFFFF">
                    <a:alpha val="6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</a:t>
            </a:r>
            <a:endParaRPr lang="en-US" sz="26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kern="0" spc="200" dirty="0">
                <a:solidFill>
                  <a:srgbClr val="9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 722  —  Data Warehouse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Yellow Taxi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2176272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1280160" cy="457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E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Prof. Joseph Kin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63016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Praveer Byndoor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0050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65760" cy="24688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" y="960120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89304"/>
            <a:ext cx="365760" cy="24688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289304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1289304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618488"/>
            <a:ext cx="365760" cy="24688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618488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" y="1618488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947672"/>
            <a:ext cx="365760" cy="24688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1947672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" y="1947672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Matrix &amp; High-Level Design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276856"/>
            <a:ext cx="365760" cy="24688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276856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" y="2276856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&amp; Dimensional Model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606040"/>
            <a:ext cx="365760" cy="24688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2606040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" y="2606040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Implementation (ELT)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960120"/>
            <a:ext cx="365760" cy="24688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960120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39512" y="960120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1289304"/>
            <a:ext cx="365760" cy="24688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1289304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39512" y="1289304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Demand &amp; Daily Trends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1618488"/>
            <a:ext cx="365760" cy="24688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00600" y="1618488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39512" y="1618488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Zone Analysis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00600" y="1947672"/>
            <a:ext cx="365760" cy="24688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00600" y="1947672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39512" y="1947672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vs. Weekend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00600" y="2276856"/>
            <a:ext cx="365760" cy="24688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00600" y="2276856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39512" y="2276856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00600" y="2606040"/>
            <a:ext cx="365760" cy="24688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00600" y="2606040"/>
            <a:ext cx="365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39512" y="2606040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379476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Project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full-cycle data warehousing project built on 2.87 million NYC Yellow Taxi trips from January 2024.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Kimball dimensional modeling approach on Snowflake, we designed a star schema with a central fact table and four conformed dimensions.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serves as the BI reporting layer on top of the warehouse.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34930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7673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(DW)  •  SQL (ELT)  •  Tableau (BI)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91440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0" y="1371600"/>
            <a:ext cx="246888" cy="24688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1371600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92040" y="136245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star schema data warehouse using Snowflake and Kimball methodology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901952"/>
            <a:ext cx="246888" cy="24688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0" y="1901952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189280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 full ELT pipeline from raw TLC Parquet files to dimensional tables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2432304"/>
            <a:ext cx="246888" cy="24688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0" y="2432304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24231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Bus Matrix and conformed dimension model for multi-subject analysis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2962656"/>
            <a:ext cx="246888" cy="24688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0" y="2962656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295351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analysis across time, location, payment type, and day-type dimensions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3493008"/>
            <a:ext cx="246888" cy="24688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0" y="3493008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48386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Tableau BI dashboards as the reporting outcome of the warehouse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4114800"/>
            <a:ext cx="4206240" cy="594360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63440" y="420624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Joseph Kin  |  IST 722 — Data Warehouse  | 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33472" cy="150876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450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Matrix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Design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44952" y="14630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33472" cy="1508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0" y="1005840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91840" y="1508760"/>
            <a:ext cx="2450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Modeling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Implementation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79592" y="14630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035040" y="960120"/>
            <a:ext cx="2633472" cy="15087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0" y="1005840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26480" y="1508760"/>
            <a:ext cx="2450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Dashboard Creation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Demonstration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6517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4114800" cy="621792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063240"/>
            <a:ext cx="54864" cy="62179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11810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Matrix &amp; Star Schema Diagram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832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model design validated across all analytical subject areas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813048"/>
            <a:ext cx="4114800" cy="621792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813048"/>
            <a:ext cx="54864" cy="62179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86791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Pipeline Scripts (Snowflake SQL)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41330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ingestion, dimension population, and fact table construction scripts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3063240"/>
            <a:ext cx="4114800" cy="621792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3063240"/>
            <a:ext cx="54864" cy="62179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311810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(Snowflake)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00600" y="33832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star schema: 2,872,007 fact rows, 4 dimension tables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3813048"/>
            <a:ext cx="4114800" cy="621792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63440" y="3813048"/>
            <a:ext cx="54864" cy="62179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00600" y="386791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Dashboard (Tableau)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00600" y="41330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tiles, trend charts, zone analysis, payment and day-type breakdowns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859536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NYC TLC Yellow Taxi Trip Records — January 2024  |  Format: Parquet  |  Platform: Snowflake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023360" cy="713232"/>
          </a:xfrm>
          <a:prstGeom prst="rect">
            <a:avLst/>
          </a:prstGeom>
          <a:solidFill>
            <a:srgbClr val="EAF2FB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54864" cy="71323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~2,872,007 rows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1790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trips after filtering (fare &gt; 0, distance &gt; 0)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4023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54864" cy="71323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0756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~1% NULL payment_type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3591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via COALESCE to 'Unknown' in fact load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4023360" cy="713232"/>
          </a:xfrm>
          <a:prstGeom prst="rect">
            <a:avLst/>
          </a:prstGeom>
          <a:solidFill>
            <a:srgbClr val="EAF2FB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852928"/>
            <a:ext cx="54864" cy="71323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91693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via Snowflake Stage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2004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INTO raw_trips with ON_ERROR = 'CONTINUE'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694176"/>
            <a:ext cx="4023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694176"/>
            <a:ext cx="54864" cy="71323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75818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 – Jan 31, 2024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0416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month; full-year expansion planned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63440" y="10972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Source Columns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1463040"/>
            <a:ext cx="4114800" cy="365760"/>
          </a:xfrm>
          <a:prstGeom prst="rect">
            <a:avLst/>
          </a:prstGeom>
          <a:solidFill>
            <a:srgbClr val="EAF2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151790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tpep_pickup_datetime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720840" y="151790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for dim_date &amp; dim_time keys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892808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19476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PULocationID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20840" y="194767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dim_location (pickup zone)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2322576"/>
            <a:ext cx="4114800" cy="365760"/>
          </a:xfrm>
          <a:prstGeom prst="rect">
            <a:avLst/>
          </a:prstGeom>
          <a:solidFill>
            <a:srgbClr val="EAF2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0" y="23774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payment_type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20840" y="237744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dim_payment (method code)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2752344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0" y="28072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fare_amount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720840" y="280720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measure — base meter fare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182112"/>
            <a:ext cx="4114800" cy="365760"/>
          </a:xfrm>
          <a:prstGeom prst="rect">
            <a:avLst/>
          </a:prstGeom>
          <a:solidFill>
            <a:srgbClr val="EAF2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54880" y="323697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tip_amount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720840" y="3236976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measure — $0 for cash trips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361188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54880" y="36667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total_amount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720840" y="366674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measure — total trip charge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4041648"/>
            <a:ext cx="4114800" cy="365760"/>
          </a:xfrm>
          <a:prstGeom prst="rect">
            <a:avLst/>
          </a:prstGeom>
          <a:solidFill>
            <a:srgbClr val="EAF2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54880" y="40965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trip_distance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720840" y="409651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measure — miles travelled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804672"/>
          </a:xfrm>
          <a:prstGeom prst="rect">
            <a:avLst/>
          </a:prstGeom>
          <a:solidFill>
            <a:srgbClr val="FFF3F3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4864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3703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TLC data in Parquet format required Snowflake stage setup before ingestion.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43400" y="121615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023360" cy="804672"/>
          </a:xfrm>
          <a:prstGeom prst="rect">
            <a:avLst/>
          </a:prstGeom>
          <a:solidFill>
            <a:srgbClr val="F0FFF4"/>
          </a:solidFill>
          <a:ln w="12700">
            <a:solidFill>
              <a:srgbClr val="B7E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54864" cy="804672"/>
          </a:xfrm>
          <a:prstGeom prst="rect">
            <a:avLst/>
          </a:prstGeom>
          <a:solidFill>
            <a:srgbClr val="2D9E5A"/>
          </a:solidFill>
          <a:ln w="12700">
            <a:solidFill>
              <a:srgbClr val="2D9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0058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92040" y="1207008"/>
            <a:ext cx="3794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set up a Snowflake internal stage to accept the Parquet format, then loaded the data with fault tolerance enabled so any bad rows were skipped without stopping the entire load.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1920240"/>
            <a:ext cx="3931920" cy="804672"/>
          </a:xfrm>
          <a:prstGeom prst="rect">
            <a:avLst/>
          </a:prstGeom>
          <a:solidFill>
            <a:srgbClr val="FFF3F3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1920240"/>
            <a:ext cx="54864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1965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2167128"/>
            <a:ext cx="3703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~1% of payment_type values were NULL, causing FK violations on dim_payment.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43400" y="21762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754880" y="1920240"/>
            <a:ext cx="4023360" cy="804672"/>
          </a:xfrm>
          <a:prstGeom prst="rect">
            <a:avLst/>
          </a:prstGeom>
          <a:solidFill>
            <a:srgbClr val="F0FFF4"/>
          </a:solidFill>
          <a:ln w="12700">
            <a:solidFill>
              <a:srgbClr val="B7E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0" y="1920240"/>
            <a:ext cx="54864" cy="804672"/>
          </a:xfrm>
          <a:prstGeom prst="rect">
            <a:avLst/>
          </a:prstGeom>
          <a:solidFill>
            <a:srgbClr val="2D9E5A"/>
          </a:solidFill>
          <a:ln w="12700">
            <a:solidFill>
              <a:srgbClr val="2D9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1965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2167128"/>
            <a:ext cx="3794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handled the NULLs by defaulting them to an 'Unknown' payment category we had pre-loaded in the dimension table, so no trips were lost.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880360"/>
            <a:ext cx="3931920" cy="804672"/>
          </a:xfrm>
          <a:prstGeom prst="rect">
            <a:avLst/>
          </a:prstGeom>
          <a:solidFill>
            <a:srgbClr val="FFF3F3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2880360"/>
            <a:ext cx="54864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29260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3127248"/>
            <a:ext cx="3703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duration not stored in source — required derivation as a computed measure.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343400" y="313639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754880" y="2880360"/>
            <a:ext cx="4023360" cy="804672"/>
          </a:xfrm>
          <a:prstGeom prst="rect">
            <a:avLst/>
          </a:prstGeom>
          <a:solidFill>
            <a:srgbClr val="F0FFF4"/>
          </a:solidFill>
          <a:ln w="12700">
            <a:solidFill>
              <a:srgbClr val="B7E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0" y="2880360"/>
            <a:ext cx="54864" cy="804672"/>
          </a:xfrm>
          <a:prstGeom prst="rect">
            <a:avLst/>
          </a:prstGeom>
          <a:solidFill>
            <a:srgbClr val="2D9E5A"/>
          </a:solidFill>
          <a:ln w="12700">
            <a:solidFill>
              <a:srgbClr val="2D9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92040" y="29260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92040" y="3127248"/>
            <a:ext cx="3794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calculated trip duration on the fly during the load by taking the difference between the pickup and dropoff timestamps and converting it to minutes.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3931920" cy="804672"/>
          </a:xfrm>
          <a:prstGeom prst="rect">
            <a:avLst/>
          </a:prstGeom>
          <a:solidFill>
            <a:srgbClr val="FFF3F3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65760" y="3840480"/>
            <a:ext cx="54864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38862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" y="4087368"/>
            <a:ext cx="3703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265 NYC taxi zones were initially available in the zone lookup file for dim_location.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343400" y="409651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4754880" y="3840480"/>
            <a:ext cx="4023360" cy="804672"/>
          </a:xfrm>
          <a:prstGeom prst="rect">
            <a:avLst/>
          </a:prstGeom>
          <a:solidFill>
            <a:srgbClr val="F0FFF4"/>
          </a:solidFill>
          <a:ln w="12700">
            <a:solidFill>
              <a:srgbClr val="B7E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54880" y="3840480"/>
            <a:ext cx="54864" cy="804672"/>
          </a:xfrm>
          <a:prstGeom prst="rect">
            <a:avLst/>
          </a:prstGeom>
          <a:solidFill>
            <a:srgbClr val="2D9E5A"/>
          </a:solidFill>
          <a:ln w="12700">
            <a:solidFill>
              <a:srgbClr val="2D9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92040" y="38862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92040" y="4087368"/>
            <a:ext cx="3794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sourced the complete official TLC zone reference file, which covered 262 of the 265 zones. The remaining 3 edge-case IDs are handled gracefully in queries so no trips get dropped.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Matrix &amp; High-Level Design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011680" cy="38404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Process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0" y="960120"/>
            <a:ext cx="777240" cy="38404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0" y="96012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63240" y="960120"/>
            <a:ext cx="777240" cy="38404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63240" y="96012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dim_time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0" y="960120"/>
            <a:ext cx="1005840" cy="38404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0" y="9601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dim_location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960120"/>
            <a:ext cx="1005840" cy="38404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9601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dim_payment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52160" y="960120"/>
            <a:ext cx="2286000" cy="38404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52160" y="9601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371600"/>
            <a:ext cx="2011680" cy="420624"/>
          </a:xfrm>
          <a:prstGeom prst="rect">
            <a:avLst/>
          </a:prstGeom>
          <a:solidFill>
            <a:srgbClr val="EAF2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1371600"/>
            <a:ext cx="2011680" cy="4206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Revenue Analysis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0" y="1371600"/>
            <a:ext cx="777240" cy="420624"/>
          </a:xfrm>
          <a:prstGeom prst="rect">
            <a:avLst/>
          </a:prstGeom>
          <a:solidFill>
            <a:srgbClr val="D4EDD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286000" y="137160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063240" y="1371600"/>
            <a:ext cx="777240" cy="420624"/>
          </a:xfrm>
          <a:prstGeom prst="rect">
            <a:avLst/>
          </a:prstGeom>
          <a:solidFill>
            <a:srgbClr val="D4EDD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063240" y="137160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840480" y="1371600"/>
            <a:ext cx="1005840" cy="420624"/>
          </a:xfrm>
          <a:prstGeom prst="rect">
            <a:avLst/>
          </a:prstGeom>
          <a:solidFill>
            <a:srgbClr val="D4EDD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40480" y="13716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1371600"/>
            <a:ext cx="100584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0" y="13716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852160" y="1371600"/>
            <a:ext cx="2286000" cy="420624"/>
          </a:xfrm>
          <a:prstGeom prst="rect">
            <a:avLst/>
          </a:prstGeom>
          <a:solidFill>
            <a:srgbClr val="EAF2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852160" y="137160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Revenue, Avg Fare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1828800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1828800"/>
            <a:ext cx="2011680" cy="4206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&amp; Volume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286000" y="1828800"/>
            <a:ext cx="777240" cy="420624"/>
          </a:xfrm>
          <a:prstGeom prst="rect">
            <a:avLst/>
          </a:prstGeom>
          <a:solidFill>
            <a:srgbClr val="D4EDD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286000" y="182880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063240" y="1828800"/>
            <a:ext cx="777240" cy="420624"/>
          </a:xfrm>
          <a:prstGeom prst="rect">
            <a:avLst/>
          </a:prstGeom>
          <a:solidFill>
            <a:srgbClr val="D4EDD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063240" y="182880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840480" y="1828800"/>
            <a:ext cx="1005840" cy="420624"/>
          </a:xfrm>
          <a:prstGeom prst="rect">
            <a:avLst/>
          </a:prstGeom>
          <a:solidFill>
            <a:srgbClr val="D4EDD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840480" y="18288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846320" y="1828800"/>
            <a:ext cx="100584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46320" y="18288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852160" y="1828800"/>
            <a:ext cx="2286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852160" y="182880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Trips, Passengers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2286000"/>
            <a:ext cx="2011680" cy="420624"/>
          </a:xfrm>
          <a:prstGeom prst="rect">
            <a:avLst/>
          </a:prstGeom>
          <a:solidFill>
            <a:srgbClr val="EAF2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74320" y="2286000"/>
            <a:ext cx="2011680" cy="4206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Performance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286000" y="2286000"/>
            <a:ext cx="77724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286000" y="228600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063240" y="2286000"/>
            <a:ext cx="77724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063240" y="228600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840480" y="2286000"/>
            <a:ext cx="1005840" cy="420624"/>
          </a:xfrm>
          <a:prstGeom prst="rect">
            <a:avLst/>
          </a:prstGeom>
          <a:solidFill>
            <a:srgbClr val="D4EDD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840480" y="22860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846320" y="2286000"/>
            <a:ext cx="100584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846320" y="22860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852160" y="2286000"/>
            <a:ext cx="2286000" cy="420624"/>
          </a:xfrm>
          <a:prstGeom prst="rect">
            <a:avLst/>
          </a:prstGeom>
          <a:solidFill>
            <a:srgbClr val="EAF2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852160" y="228600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Revenue/Zone, Avg Fare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4320" y="2743200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74320" y="2743200"/>
            <a:ext cx="2011680" cy="4206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Behavior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286000" y="2743200"/>
            <a:ext cx="77724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286000" y="274320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3063240" y="2743200"/>
            <a:ext cx="77724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063240" y="274320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3840480" y="2743200"/>
            <a:ext cx="100584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840480" y="27432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4846320" y="2743200"/>
            <a:ext cx="1005840" cy="420624"/>
          </a:xfrm>
          <a:prstGeom prst="rect">
            <a:avLst/>
          </a:prstGeom>
          <a:solidFill>
            <a:srgbClr val="D4EDD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846320" y="27432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5852160" y="2743200"/>
            <a:ext cx="2286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852160" y="274320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Trips, Revenue, Avg Tip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274320" y="3200400"/>
            <a:ext cx="2011680" cy="420624"/>
          </a:xfrm>
          <a:prstGeom prst="rect">
            <a:avLst/>
          </a:prstGeom>
          <a:solidFill>
            <a:srgbClr val="EAF2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274320" y="3200400"/>
            <a:ext cx="2011680" cy="4206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vs. Weekend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2286000" y="3200400"/>
            <a:ext cx="777240" cy="420624"/>
          </a:xfrm>
          <a:prstGeom prst="rect">
            <a:avLst/>
          </a:prstGeom>
          <a:solidFill>
            <a:srgbClr val="D4EDD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2286000" y="320040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3063240" y="3200400"/>
            <a:ext cx="77724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3063240" y="320040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3840480" y="3200400"/>
            <a:ext cx="100584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840480" y="32004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4846320" y="3200400"/>
            <a:ext cx="100584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846320" y="32004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5852160" y="3200400"/>
            <a:ext cx="2286000" cy="420624"/>
          </a:xfrm>
          <a:prstGeom prst="rect">
            <a:avLst/>
          </a:prstGeom>
          <a:solidFill>
            <a:srgbClr val="EAF2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5852160" y="320040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Trips, Revenue, Fare, Tip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274320" y="3657600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274320" y="3657600"/>
            <a:ext cx="2011680" cy="4206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Time-of-Day Demand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2286000" y="3657600"/>
            <a:ext cx="77724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2286000" y="365760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80" name="Shape 78"/>
          <p:cNvSpPr/>
          <p:nvPr/>
        </p:nvSpPr>
        <p:spPr>
          <a:xfrm>
            <a:off x="3063240" y="3657600"/>
            <a:ext cx="777240" cy="420624"/>
          </a:xfrm>
          <a:prstGeom prst="rect">
            <a:avLst/>
          </a:prstGeom>
          <a:solidFill>
            <a:srgbClr val="D4EDD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3063240" y="365760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3840480" y="3657600"/>
            <a:ext cx="100584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3840480" y="36576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84" name="Shape 82"/>
          <p:cNvSpPr/>
          <p:nvPr/>
        </p:nvSpPr>
        <p:spPr>
          <a:xfrm>
            <a:off x="4846320" y="3657600"/>
            <a:ext cx="1005840" cy="420624"/>
          </a:xfrm>
          <a:prstGeom prst="rect">
            <a:avLst/>
          </a:prstGeom>
          <a:solidFill>
            <a:srgbClr val="F8F9FA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4846320" y="36576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5852160" y="3657600"/>
            <a:ext cx="2286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5852160" y="365760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Trips &amp; Revenue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274320" y="4251960"/>
            <a:ext cx="54864" cy="5943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411480" y="432511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dimensions (dim_date, dim_location) are shared across multiple business processes, enabling drill-across analysis between subject areas.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— Dimensional 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0" y="1645920"/>
            <a:ext cx="2743200" cy="27432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fact_trips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46120" y="2103120"/>
            <a:ext cx="2651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C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trip_id (PK)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C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date_id (FK)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C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time_id (FK)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C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pickup_location_id (FK)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C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payment_id (FK)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C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trip_distance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C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duration_mins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C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fare_amount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C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tip_amount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C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total_amount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2880" y="914400"/>
            <a:ext cx="2651760" cy="1920240"/>
          </a:xfrm>
          <a:prstGeom prst="rect">
            <a:avLst/>
          </a:prstGeom>
          <a:solidFill>
            <a:srgbClr val="F4F6F9"/>
          </a:solidFill>
          <a:ln w="1270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82880" y="914400"/>
            <a:ext cx="265176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2880" y="9144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298448"/>
            <a:ext cx="246888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date_id (PK)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full_date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day_name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day_type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week_number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month_num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34640" y="1874520"/>
            <a:ext cx="36576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82880" y="3291840"/>
            <a:ext cx="2651760" cy="1408176"/>
          </a:xfrm>
          <a:prstGeom prst="rect">
            <a:avLst/>
          </a:prstGeom>
          <a:solidFill>
            <a:srgbClr val="F4F6F9"/>
          </a:solidFill>
          <a:ln w="1270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82880" y="3291840"/>
            <a:ext cx="265176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82880" y="32918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dim_time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3675888"/>
            <a:ext cx="246888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time_id (PK)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hour_of_day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time_label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period_of_day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834640" y="3995928"/>
            <a:ext cx="36576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914400"/>
            <a:ext cx="2651760" cy="1152144"/>
          </a:xfrm>
          <a:prstGeom prst="rect">
            <a:avLst/>
          </a:prstGeom>
          <a:solidFill>
            <a:srgbClr val="F4F6F9"/>
          </a:solidFill>
          <a:ln w="1270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7920" y="914400"/>
            <a:ext cx="265176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0" y="9144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dim_location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1298448"/>
            <a:ext cx="24688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location_id (PK)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borough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zone_name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0" y="1490472"/>
            <a:ext cx="27432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17920" y="3291840"/>
            <a:ext cx="2651760" cy="896112"/>
          </a:xfrm>
          <a:prstGeom prst="rect">
            <a:avLst/>
          </a:prstGeom>
          <a:solidFill>
            <a:srgbClr val="F4F6F9"/>
          </a:solidFill>
          <a:ln w="1270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17920" y="3291840"/>
            <a:ext cx="265176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17920" y="32918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dim_payment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3675888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payment_id (PK)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payment_name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43600" y="3739896"/>
            <a:ext cx="274320" cy="0"/>
          </a:xfrm>
          <a:prstGeom prst="line">
            <a:avLst/>
          </a:prstGeom>
          <a:noFill/>
          <a:ln w="12700">
            <a:solidFill>
              <a:srgbClr val="8A8A8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Implementation — ELT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796225"/>
            <a:ext cx="8412480" cy="5029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469005"/>
            <a:ext cx="146304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469005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Extract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19656" y="1766185"/>
            <a:ext cx="329184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66544" y="1711321"/>
            <a:ext cx="73152" cy="10972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2200525"/>
            <a:ext cx="146304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93192" y="2273677"/>
            <a:ext cx="1316736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NYC TLC Yellow Taxi Parquet file from the TLC open data portal.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984248" y="1469005"/>
            <a:ext cx="146304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84248" y="1469005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Load Raw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83864" y="1766185"/>
            <a:ext cx="329184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730752" y="1711321"/>
            <a:ext cx="73152" cy="10972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984248" y="2200525"/>
            <a:ext cx="146304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057400" y="2273677"/>
            <a:ext cx="1316736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Parquet file into Snowflake RAW layer (raw_taxi table) — no changes, data as-is.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48456" y="1469005"/>
            <a:ext cx="146304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48456" y="1469005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Transform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148072" y="1766185"/>
            <a:ext cx="329184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394960" y="1711321"/>
            <a:ext cx="73152" cy="10972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48456" y="2200525"/>
            <a:ext cx="146304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721608" y="2195753"/>
            <a:ext cx="1316736" cy="846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inside Snowflake: fix timestamps, remove bad rows, compute trip duration, decode payment codes.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12664" y="1469005"/>
            <a:ext cx="1463040" cy="594360"/>
          </a:xfrm>
          <a:prstGeom prst="rect">
            <a:avLst/>
          </a:prstGeom>
          <a:solidFill>
            <a:srgbClr val="217A3C"/>
          </a:solidFill>
          <a:ln w="12700">
            <a:solidFill>
              <a:srgbClr val="217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12664" y="1469005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Load Star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12280" y="1766185"/>
            <a:ext cx="329184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059168" y="1711321"/>
            <a:ext cx="73152" cy="10972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312664" y="2200525"/>
            <a:ext cx="146304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85816" y="2273677"/>
            <a:ext cx="1316736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 4 dimension tables + fact_trips with 2,872,007 clean rows into STAR schema.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976872" y="1469005"/>
            <a:ext cx="1463040" cy="594360"/>
          </a:xfrm>
          <a:prstGeom prst="rect">
            <a:avLst/>
          </a:prstGeom>
          <a:solidFill>
            <a:srgbClr val="C4600A"/>
          </a:solidFill>
          <a:ln w="12700">
            <a:solidFill>
              <a:srgbClr val="C460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76872" y="1469005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Verify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976872" y="2200525"/>
            <a:ext cx="146304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050024" y="2273677"/>
            <a:ext cx="1316736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 checks on all tables. Run 7 analytical queries for BI export to Tableau.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3343525"/>
            <a:ext cx="850392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3389245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ELT?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lands in Snowflake first (Load), then all transformations happen inside Snowflake using SQL (Transform). We never processed data outside the warehouse — this is the modern cloud approach.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46888" y="1139821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984248" y="1135449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LAYER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648456" y="1135449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LAYER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312664" y="1135449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1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976872" y="1135449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EXPORT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 — Warehouse Output (January 2024)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651760" cy="6400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69848"/>
            <a:ext cx="2560320" cy="7037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2,872,007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772107"/>
            <a:ext cx="2560320" cy="4736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Trips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5176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51760" cy="6400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46120" y="1069848"/>
            <a:ext cx="2560320" cy="7037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$78.49M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46120" y="1772107"/>
            <a:ext cx="2560320" cy="4736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960120"/>
            <a:ext cx="265176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35040" y="960120"/>
            <a:ext cx="2651760" cy="6400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80760" y="1069848"/>
            <a:ext cx="2560320" cy="7037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$27.33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080760" y="1772107"/>
            <a:ext cx="2560320" cy="4736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Fare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265176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2468880"/>
            <a:ext cx="2651760" cy="6400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2578608"/>
            <a:ext cx="2560320" cy="7037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3.73 mi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11480" y="3280867"/>
            <a:ext cx="2560320" cy="4736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Distance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468880"/>
            <a:ext cx="265176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0" y="2468880"/>
            <a:ext cx="2651760" cy="6400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46120" y="2578608"/>
            <a:ext cx="2560320" cy="7037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15.75 min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246120" y="3280867"/>
            <a:ext cx="2560320" cy="4736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Duration Mins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2468880"/>
            <a:ext cx="265176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0" y="2468880"/>
            <a:ext cx="2651760" cy="6400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80760" y="2578608"/>
            <a:ext cx="2560320" cy="7037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$3.40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080760" y="3280867"/>
            <a:ext cx="2560320" cy="4736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Tip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Demand &amp; Daily Revenue Trends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tableau_images/image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5394960" cy="2423160"/>
          </a:xfrm>
          <a:prstGeom prst="rect">
            <a:avLst/>
          </a:prstGeom>
        </p:spPr>
      </p:pic>
      <p:pic>
        <p:nvPicPr>
          <p:cNvPr id="5" name="Image 1" descr="/home/claude/tableau_images/image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" y="3383280"/>
            <a:ext cx="5394960" cy="16459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806440" y="914400"/>
            <a:ext cx="2971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5806440" y="914400"/>
            <a:ext cx="54864" cy="89611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5943600" y="987552"/>
            <a:ext cx="2770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Hour: 6 PM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943600" y="1280160"/>
            <a:ext cx="2770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206,511 trips &amp; $5.54M revenue at hour 18 — the single highest hour of the day.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806440" y="1938528"/>
            <a:ext cx="2971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5806440" y="1938528"/>
            <a:ext cx="54864" cy="89611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943600" y="2011680"/>
            <a:ext cx="2770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Volume: 3–5 AM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943600" y="2304288"/>
            <a:ext cx="2770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Fewest trips (15K–23K) but highest avg fares ($32–$38) — airport &amp; long-haul runs.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806440" y="2962656"/>
            <a:ext cx="2971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806440" y="2962656"/>
            <a:ext cx="54864" cy="896112"/>
          </a:xfrm>
          <a:prstGeom prst="rect">
            <a:avLst/>
          </a:prstGeom>
          <a:solidFill>
            <a:srgbClr val="2D9E5A"/>
          </a:solidFill>
          <a:ln w="12700">
            <a:solidFill>
              <a:srgbClr val="2D9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943600" y="3035808"/>
            <a:ext cx="2770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Surge: 7 AM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943600" y="3328416"/>
            <a:ext cx="2770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volume climbs steeply as commuter demand enters the market.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806440" y="3986784"/>
            <a:ext cx="2971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806440" y="3986784"/>
            <a:ext cx="54864" cy="8961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943600" y="4059936"/>
            <a:ext cx="2770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Day: Thursdays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943600" y="4352544"/>
            <a:ext cx="27706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Thursdays and Fridays consistently exceed 100K+ trips and $2.8M+ in daily revenue.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Behavior &amp; Top Pickup Zones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tableau_images/image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41248"/>
            <a:ext cx="4114800" cy="2926080"/>
          </a:xfrm>
          <a:prstGeom prst="rect">
            <a:avLst/>
          </a:prstGeom>
        </p:spPr>
      </p:pic>
      <p:pic>
        <p:nvPicPr>
          <p:cNvPr id="5" name="Image 1" descr="/home/claude/tableau_images/image5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0" y="841248"/>
            <a:ext cx="4297680" cy="29260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" y="393192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274320" y="3931920"/>
            <a:ext cx="54864" cy="86868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411480" y="4005072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Card: 80% of Trips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11480" y="4297680"/>
            <a:ext cx="391363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82% of total revenue ($64.5M). Avg tip $4.16 — only card payers are metered for tips.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709160" y="393192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709160" y="3931920"/>
            <a:ext cx="54864" cy="8686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846320" y="4005072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Zones = Premium Revenue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846320" y="4297680"/>
            <a:ext cx="391363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JFK ($80.86 avg fare) and LaGuardia ($66.37) are 3x the city average — key revenue generators.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vs. Weekend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fact_trips JOIN dim_date ON date_id — grouped by day_type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715000" y="1143000"/>
            <a:ext cx="3108960" cy="713232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715000" y="1143000"/>
            <a:ext cx="54864" cy="71323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852160" y="121615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Weekday Volume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1490472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2.47M of 2.87M total trips occur on weekdays — driven by commuter and business demand.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715000" y="1965960"/>
            <a:ext cx="3108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715000" y="1965960"/>
            <a:ext cx="54864" cy="71323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852160" y="203911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Weekday Revenue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52160" y="2313432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$67.1M of $78.5M total revenue generated on weekdays.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715000" y="2788920"/>
            <a:ext cx="3108960" cy="713232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715000" y="2788920"/>
            <a:ext cx="54864" cy="713232"/>
          </a:xfrm>
          <a:prstGeom prst="rect">
            <a:avLst/>
          </a:prstGeom>
          <a:solidFill>
            <a:srgbClr val="2D9E5A"/>
          </a:solidFill>
          <a:ln w="12700">
            <a:solidFill>
              <a:srgbClr val="2D9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852160" y="286207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Fare +6%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852160" y="3136392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$28.82 vs $27.09 avg fare — weekend leisure trips tend to cover greater distances.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715000" y="3611880"/>
            <a:ext cx="3108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715000" y="3611880"/>
            <a:ext cx="54864" cy="7132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852160" y="368503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Tip +4%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852160" y="3959352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$3.53 vs $3.38 avg tip — marginally higher tipping on leisure trips.</a:t>
            </a:r>
            <a:endParaRPr lang="en-US" sz="10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3A22CBD-6255-8701-EB8C-BF7CB03AC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446" y="1133742"/>
            <a:ext cx="4005072" cy="314140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 Next Steps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58952"/>
            <a:ext cx="8412480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749040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41148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93776" y="1625557"/>
            <a:ext cx="201168" cy="20116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58191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/>
              <a:t>Starting with a clear dimensional model before writing any code saves significant rework downstream</a:t>
            </a:r>
          </a:p>
        </p:txBody>
      </p:sp>
      <p:sp>
        <p:nvSpPr>
          <p:cNvPr id="9" name="Shape 7"/>
          <p:cNvSpPr/>
          <p:nvPr/>
        </p:nvSpPr>
        <p:spPr>
          <a:xfrm>
            <a:off x="494587" y="2359152"/>
            <a:ext cx="201168" cy="20116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24028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/>
              <a:t>Data quality issues surface late if not profiled early.</a:t>
            </a:r>
          </a:p>
        </p:txBody>
      </p:sp>
      <p:sp>
        <p:nvSpPr>
          <p:cNvPr id="11" name="Shape 9"/>
          <p:cNvSpPr/>
          <p:nvPr/>
        </p:nvSpPr>
        <p:spPr>
          <a:xfrm>
            <a:off x="493776" y="3136392"/>
            <a:ext cx="201168" cy="20116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301752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/>
              <a:t>Iterative testing at each ELT layer is far more efficient than end-to-end debugging</a:t>
            </a:r>
          </a:p>
        </p:txBody>
      </p:sp>
      <p:sp>
        <p:nvSpPr>
          <p:cNvPr id="13" name="Shape 11"/>
          <p:cNvSpPr/>
          <p:nvPr/>
        </p:nvSpPr>
        <p:spPr>
          <a:xfrm>
            <a:off x="494587" y="3902607"/>
            <a:ext cx="201168" cy="201168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79476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/>
              <a:t>Business questions should drive schema design and not the other way around</a:t>
            </a:r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4114800" cy="3749040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Shape 14"/>
          <p:cNvSpPr/>
          <p:nvPr/>
        </p:nvSpPr>
        <p:spPr>
          <a:xfrm>
            <a:off x="4663440" y="914400"/>
            <a:ext cx="4114800" cy="4114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960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00600" y="1651108"/>
            <a:ext cx="201168" cy="2011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74920" y="1517904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/>
              <a:t>Extend to multi-year data for seasonal trend analysis and </a:t>
            </a: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weather dimension</a:t>
            </a:r>
            <a:r>
              <a:rPr lang="en-US" sz="1050" dirty="0"/>
              <a:t>.</a:t>
            </a:r>
          </a:p>
        </p:txBody>
      </p:sp>
      <p:sp>
        <p:nvSpPr>
          <p:cNvPr id="21" name="Text 19"/>
          <p:cNvSpPr/>
          <p:nvPr/>
        </p:nvSpPr>
        <p:spPr>
          <a:xfrm>
            <a:off x="5074920" y="199339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0600" y="2379791"/>
            <a:ext cx="201168" cy="2011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74920" y="224028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/>
              <a:t>Connect directly to a live data source to eliminate manual CSV export dependencies</a:t>
            </a:r>
          </a:p>
        </p:txBody>
      </p:sp>
      <p:sp>
        <p:nvSpPr>
          <p:cNvPr id="24" name="Shape 22"/>
          <p:cNvSpPr/>
          <p:nvPr/>
        </p:nvSpPr>
        <p:spPr>
          <a:xfrm>
            <a:off x="4800600" y="3072384"/>
            <a:ext cx="201168" cy="2011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74920" y="2926080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/>
              <a:t>Build automated anomaly detection to flag unusual trip patterns or revenue drops</a:t>
            </a:r>
          </a:p>
        </p:txBody>
      </p:sp>
      <p:sp>
        <p:nvSpPr>
          <p:cNvPr id="27" name="Text 25"/>
          <p:cNvSpPr/>
          <p:nvPr/>
        </p:nvSpPr>
        <p:spPr>
          <a:xfrm>
            <a:off x="5074920" y="358444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12435" y="3813048"/>
            <a:ext cx="201168" cy="2011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74920" y="3575304"/>
            <a:ext cx="3566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/>
              <a:t>Integrate machine learning models to predict peak demand by zone and time of day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1496</Words>
  <Application>Microsoft Macintosh PowerPoint</Application>
  <PresentationFormat>On-screen Show (16:9)</PresentationFormat>
  <Paragraphs>276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 Yellow Taxi Analytics — Data Warehouse Project</dc:title>
  <dc:subject>PptxGenJS Presentation</dc:subject>
  <dc:creator>PptxGenJS</dc:creator>
  <cp:lastModifiedBy>Praveer Nagaraja Byndoor</cp:lastModifiedBy>
  <cp:revision>6</cp:revision>
  <dcterms:created xsi:type="dcterms:W3CDTF">2026-04-21T23:46:24Z</dcterms:created>
  <dcterms:modified xsi:type="dcterms:W3CDTF">2026-05-20T07:28:05Z</dcterms:modified>
</cp:coreProperties>
</file>